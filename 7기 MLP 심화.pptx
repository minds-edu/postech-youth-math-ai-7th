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54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208483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심화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27048" y="288950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80"/>
              </a:lnSpc>
              <a:buNone/>
            </a:pPr>
            <a:r>
              <a:rPr lang="en-US" sz="240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 · 다중 분류 · MLP의 한계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74920" y="3657600"/>
            <a:ext cx="2039112" cy="91"/>
          </a:xfrm>
          <a:prstGeom prst="line">
            <a:avLst/>
          </a:prstGeom>
          <a:noFill/>
          <a:ln w="1905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527048" y="38770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청소년 수리 인공지능 아카데미 7기  ·  4주차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27048" y="42793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김우주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460857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2026. 07. 29.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인공지능은 결국 하나의 함수다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04088" y="17830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(입력)</a:t>
            </a:r>
            <a:endParaRPr lang="en-US" sz="1500" dirty="0"/>
          </a:p>
          <a:p>
            <a:pPr marL="0" indent="0" algn="ctr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실생활 데이터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04488" y="17830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904488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04888" y="17830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04888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(출력)</a:t>
            </a:r>
            <a:endParaRPr lang="en-US" sz="1500" dirty="0"/>
          </a:p>
          <a:p>
            <a:pPr marL="0" indent="0" algn="ctr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예측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27248" y="2400300"/>
            <a:ext cx="64008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27648" y="2400300"/>
            <a:ext cx="64008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802368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 (x)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" y="32186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발사이즈 → 키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→ 강아지 / 고양이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→ 긍정 / 부정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" y="4251960"/>
            <a:ext cx="5573268" cy="1874520"/>
          </a:xfrm>
          <a:prstGeom prst="roundRect">
            <a:avLst>
              <a:gd name="adj" fmla="val 2439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4088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아는 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" y="4800600"/>
            <a:ext cx="5024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— 짝지어진 (x, y) 몇 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" y="5184648"/>
            <a:ext cx="5024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f 위에 찍힌 점 몇 개일 뿐이다.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사이의 빈칸은 데이터가 알려주지 않는다.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7356" y="4251960"/>
            <a:ext cx="557326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51676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모르는 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1676" y="4800600"/>
            <a:ext cx="5024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그 자체 — 즉 인공지능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51676" y="5184648"/>
            <a:ext cx="5024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인공지능을 만드는 일은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“f를 잘 설계하고, 데이터로 채우는 일”이 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f의 “모양”은 데이터가 알려주지 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481328"/>
            <a:ext cx="3813048" cy="3977640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16642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직선으로 정하면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" y="4498848"/>
            <a:ext cx="2926080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86968" y="2167128"/>
            <a:ext cx="91" cy="2331720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flipV="1">
            <a:off x="947928" y="3367964"/>
            <a:ext cx="2804160" cy="233172"/>
          </a:xfrm>
          <a:prstGeom prst="line">
            <a:avLst/>
          </a:prstGeom>
          <a:noFill/>
          <a:ln w="28575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30808" y="2633472"/>
            <a:ext cx="91" cy="954256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35608" y="3391281"/>
            <a:ext cx="91" cy="171381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740408" y="3537596"/>
            <a:ext cx="91" cy="261736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045208" y="3512530"/>
            <a:ext cx="91" cy="578267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350008" y="3487464"/>
            <a:ext cx="91" cy="632479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54808" y="3462398"/>
            <a:ext cx="91" cy="511813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959608" y="3437332"/>
            <a:ext cx="91" cy="245414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64408" y="3158109"/>
            <a:ext cx="91" cy="254157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569208" y="2516886"/>
            <a:ext cx="91" cy="870314"/>
          </a:xfrm>
          <a:prstGeom prst="line">
            <a:avLst/>
          </a:prstGeom>
          <a:noFill/>
          <a:ln w="1270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66800" y="2569464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71600" y="3327273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676400" y="3735324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81200" y="4026789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86000" y="4055936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590800" y="3910203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895600" y="3618738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0" y="3094101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505200" y="2452878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78408" y="1874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(x) = w x + 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" y="4681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직선을 그려도 데이터를 따라가지 못한다.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b 를 아무리 잘 학습해도 소용없다.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44568" y="1481328"/>
            <a:ext cx="3813048" cy="3977640"/>
          </a:xfrm>
          <a:prstGeom prst="roundRect">
            <a:avLst>
              <a:gd name="adj" fmla="val 1199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82312" y="16642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2차 함수로 정하면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01768" y="4498848"/>
            <a:ext cx="2926080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001768" y="2167128"/>
            <a:ext cx="91" cy="2331720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62728" y="2252790"/>
            <a:ext cx="63731" cy="16243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126459" y="2415224"/>
            <a:ext cx="63731" cy="15504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190190" y="2570268"/>
            <a:ext cx="63731" cy="14765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253921" y="2717921"/>
            <a:ext cx="63731" cy="14026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317652" y="2858183"/>
            <a:ext cx="63731" cy="13287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381383" y="2991055"/>
            <a:ext cx="63731" cy="12548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445113" y="3116536"/>
            <a:ext cx="63731" cy="11809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508844" y="3234626"/>
            <a:ext cx="63731" cy="11070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572575" y="3345326"/>
            <a:ext cx="63731" cy="103309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636306" y="3448635"/>
            <a:ext cx="63731" cy="95918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700037" y="3544553"/>
            <a:ext cx="63731" cy="88528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763768" y="3633080"/>
            <a:ext cx="63731" cy="81137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827499" y="3714217"/>
            <a:ext cx="63731" cy="73746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891230" y="3787963"/>
            <a:ext cx="63731" cy="66356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54961" y="3854319"/>
            <a:ext cx="63731" cy="58965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18692" y="3913284"/>
            <a:ext cx="63731" cy="5157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082423" y="3964858"/>
            <a:ext cx="63731" cy="4418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146153" y="4009041"/>
            <a:ext cx="63731" cy="3679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209884" y="4045834"/>
            <a:ext cx="63731" cy="2940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273615" y="4075236"/>
            <a:ext cx="63731" cy="2201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337346" y="4097248"/>
            <a:ext cx="63731" cy="1462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401077" y="4111868"/>
            <a:ext cx="63731" cy="723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 flipV="1">
            <a:off x="6464808" y="4118938"/>
            <a:ext cx="63731" cy="16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 flipV="1">
            <a:off x="6528539" y="4111386"/>
            <a:ext cx="63731" cy="755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 flipV="1">
            <a:off x="6592270" y="4096444"/>
            <a:ext cx="63731" cy="1494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V="1">
            <a:off x="6656001" y="4074111"/>
            <a:ext cx="63731" cy="2233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6719732" y="4044388"/>
            <a:ext cx="63731" cy="2972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 flipV="1">
            <a:off x="6783463" y="4007274"/>
            <a:ext cx="63731" cy="3711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 flipV="1">
            <a:off x="6847193" y="3962769"/>
            <a:ext cx="63731" cy="44505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flipV="1">
            <a:off x="6910924" y="3910874"/>
            <a:ext cx="63731" cy="51895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flipV="1">
            <a:off x="6974655" y="3851588"/>
            <a:ext cx="63731" cy="59286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7038386" y="3784911"/>
            <a:ext cx="63731" cy="66677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 flipV="1">
            <a:off x="7102117" y="3710843"/>
            <a:ext cx="63731" cy="74068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 flipV="1">
            <a:off x="7165848" y="3629385"/>
            <a:ext cx="63731" cy="81458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flipV="1">
            <a:off x="7229579" y="3540536"/>
            <a:ext cx="63731" cy="88849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 flipV="1">
            <a:off x="7293310" y="3444297"/>
            <a:ext cx="63731" cy="9624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 flipV="1">
            <a:off x="7357041" y="3340666"/>
            <a:ext cx="63731" cy="10363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 flipV="1">
            <a:off x="7420772" y="3229645"/>
            <a:ext cx="63731" cy="111021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 flipV="1">
            <a:off x="7484503" y="3111234"/>
            <a:ext cx="63731" cy="11841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 flipV="1">
            <a:off x="7548233" y="2985431"/>
            <a:ext cx="63731" cy="125802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flipV="1">
            <a:off x="7611964" y="2852238"/>
            <a:ext cx="63731" cy="133193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flipV="1">
            <a:off x="7675695" y="2711655"/>
            <a:ext cx="63731" cy="14058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 flipV="1">
            <a:off x="7739426" y="2563680"/>
            <a:ext cx="63731" cy="147974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V="1">
            <a:off x="7803157" y="2408315"/>
            <a:ext cx="63731" cy="155365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181600" y="2569464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5486400" y="3327273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5791200" y="3735324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6096000" y="4026789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400800" y="4055936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705600" y="3910203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7010400" y="3618738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315200" y="3094101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7620000" y="2452878"/>
            <a:ext cx="128016" cy="128016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5093208" y="1874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(x) = a x² + b x + c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4782312" y="4681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데이터, 같은 학습 방법인데 잘 맞는다.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것은 “f의 모양” 하나뿐이다.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705088" y="1481328"/>
            <a:ext cx="3145536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8961120" y="16824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정하는 것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8961120" y="1993392"/>
            <a:ext cx="2703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를 어떤 종류의 함수로 할지</a:t>
            </a:r>
            <a:endParaRPr lang="en-US" sz="1700" dirty="0"/>
          </a:p>
        </p:txBody>
      </p:sp>
      <p:sp>
        <p:nvSpPr>
          <p:cNvPr id="92" name="Text 90"/>
          <p:cNvSpPr/>
          <p:nvPr/>
        </p:nvSpPr>
        <p:spPr>
          <a:xfrm>
            <a:off x="8961120" y="237744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직선? 2차 함수? 지수함수?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시킨 것이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아니라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고른 것이다.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8705088" y="3474720"/>
            <a:ext cx="3145536" cy="1984248"/>
          </a:xfrm>
          <a:prstGeom prst="roundRect">
            <a:avLst>
              <a:gd name="adj" fmla="val 2304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8961120" y="3675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정하는 것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8961120" y="39867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함수 안의 숫자들</a:t>
            </a:r>
            <a:endParaRPr lang="en-US" sz="1700" dirty="0"/>
          </a:p>
        </p:txBody>
      </p:sp>
      <p:sp>
        <p:nvSpPr>
          <p:cNvPr id="96" name="Text 94"/>
          <p:cNvSpPr/>
          <p:nvPr/>
        </p:nvSpPr>
        <p:spPr>
          <a:xfrm>
            <a:off x="8961120" y="4370832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b 또는 a, b, c.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잘 맞는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값을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컴퓨터가</a:t>
            </a:r>
            <a:endParaRPr lang="en-US" sz="1400" dirty="0">
              <a:solidFill>
                <a:srgbClr val="5E7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찾아낸다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학습(training)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429768" y="5623560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데이터가 어떤 모양인지 미리 모른다면?  →  아주 유연한 f 가 필요하다.  그게 MLP 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— 가중합 다음에 활성화 함수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86968" y="205740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8696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9304" y="2258568"/>
            <a:ext cx="1810512" cy="667512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55648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278892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86968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1289304" y="2926080"/>
            <a:ext cx="1810512" cy="64008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755648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" y="352044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8696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1289304" y="2926080"/>
            <a:ext cx="1810512" cy="795528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755648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99816" y="26700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099816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675888" y="2926080"/>
            <a:ext cx="54864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315968" y="251460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F1F5F8"/>
          </a:solidFill>
          <a:ln w="158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15968" y="2514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13248" y="2926080"/>
            <a:ext cx="54864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053328" y="27797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w₁x₁ + w₂x₂ + w₃x₃ + 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07608" y="1600200"/>
            <a:ext cx="5843016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81928" y="1810512"/>
            <a:ext cx="529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곱해서 더할까?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212140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입력마다 중요도가 다르기 때문이다.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81928" y="2468880"/>
            <a:ext cx="5294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사진에서 보통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물체가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중요하고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배경은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덜 중요하다.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“중요도”가 바로 가중치 w 이고, 학습으로 정해진다.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07608" y="3246120"/>
            <a:ext cx="5843016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81928" y="3456432"/>
            <a:ext cx="529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b 를 더할까?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81928" y="3767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기준선을 옮길 수 있어야 한다.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281928" y="4114800"/>
            <a:ext cx="5294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가 없으면 f 는 반드시 원점을 지나야 한다.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애초에 그릴 수 있는 직선의 종류가 줄어든다.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07608" y="4892040"/>
            <a:ext cx="5843016" cy="868680"/>
          </a:xfrm>
          <a:prstGeom prst="roundRect">
            <a:avLst>
              <a:gd name="adj" fmla="val 5263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36208" y="4892040"/>
            <a:ext cx="5385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퍼셉트론 하나 = 아주 단순한 f  →  그래서 여러 개를, 여러 층으로 잇는다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— 넓게, 그리고 깊게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flipV="1">
            <a:off x="932688" y="2346960"/>
            <a:ext cx="1524000" cy="2590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32688" y="2606040"/>
            <a:ext cx="1524000" cy="2590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2606040"/>
            <a:ext cx="1524000" cy="77724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2688" y="2606040"/>
            <a:ext cx="1524000" cy="129540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32688" y="2606040"/>
            <a:ext cx="1524000" cy="18135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V="1">
            <a:off x="932688" y="234696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932688" y="286512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32688" y="338328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32688" y="338328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2688" y="338328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932688" y="2346960"/>
            <a:ext cx="1524000" cy="18135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 flipV="1">
            <a:off x="932688" y="2865120"/>
            <a:ext cx="1524000" cy="129540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 flipV="1">
            <a:off x="932688" y="3383280"/>
            <a:ext cx="1524000" cy="77724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 flipV="1">
            <a:off x="932688" y="3901440"/>
            <a:ext cx="1524000" cy="2590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32688" y="4160520"/>
            <a:ext cx="1524000" cy="2590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456688" y="234696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456688" y="234696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456688" y="234696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456688" y="234696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456688" y="2346960"/>
            <a:ext cx="1524000" cy="207264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 flipV="1">
            <a:off x="2456688" y="234696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456688" y="286512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456688" y="286512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456688" y="286512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456688" y="286512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 flipV="1">
            <a:off x="2456688" y="234696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 flipV="1">
            <a:off x="2456688" y="286512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456688" y="338328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456688" y="338328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456688" y="338328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 flipV="1">
            <a:off x="2456688" y="234696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 flipV="1">
            <a:off x="2456688" y="286512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 flipV="1">
            <a:off x="2456688" y="338328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456688" y="390144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456688" y="390144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 flipV="1">
            <a:off x="2456688" y="2346960"/>
            <a:ext cx="1524000" cy="207264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V="1">
            <a:off x="2456688" y="286512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V="1">
            <a:off x="2456688" y="338328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V="1">
            <a:off x="2456688" y="390144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456688" y="441960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980688" y="234696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980688" y="234696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980688" y="286512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3980688" y="286512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 flipV="1">
            <a:off x="3980688" y="286512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980688" y="338328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 flipV="1">
            <a:off x="3980688" y="2865120"/>
            <a:ext cx="1524000" cy="10363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980688" y="3901440"/>
            <a:ext cx="152400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 flipV="1">
            <a:off x="3980688" y="2865120"/>
            <a:ext cx="1524000" cy="155448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 flipV="1">
            <a:off x="3980688" y="3901440"/>
            <a:ext cx="152400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795528" y="24688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795528" y="324612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95528" y="40233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2319528" y="220980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319528" y="2727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319528" y="324612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319528" y="37642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2319528" y="428244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843528" y="220980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3843528" y="2727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843528" y="324612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3843528" y="37642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3843528" y="428244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5367528" y="2727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367528" y="37642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274320" y="5120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798320" y="5120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322320" y="5120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846320" y="5120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9808" y="1417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넓이 = 한 층의 퍼셉트론 수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127248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 = 층의 수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64808" y="16002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층을 쌓을까?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464808" y="1920240"/>
            <a:ext cx="5385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 하나로는 못 나누는 문제가 있기 때문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6464808" y="2697480"/>
            <a:ext cx="5385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회귀·SVM은 결정 경계가 직선이다</a:t>
            </a:r>
            <a:endParaRPr lang="en-US" sz="17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뒤엉켜 있으면 직선으로는 반드시 틀린다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층을 쌓으면 표현할 수 있는 모양이 늘어난다</a:t>
            </a:r>
            <a:endParaRPr lang="en-US" sz="17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층의 출력을 다음 층이 다시 조합한다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부품을 겹쳐 복잡한 곡선을 만드는 셈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6464808" y="4800600"/>
            <a:ext cx="5385816" cy="96012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6693408" y="4800600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— 정말 “쌓기만” 하면 될까?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활성화 함수가 필요한가 — 없으면 깊이가 사라진다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1288" y="2365248"/>
            <a:ext cx="141732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61288" y="2365248"/>
            <a:ext cx="141732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1161288" y="2365248"/>
            <a:ext cx="141732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61288" y="2883408"/>
            <a:ext cx="141732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78608" y="2365248"/>
            <a:ext cx="141732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78608" y="2365248"/>
            <a:ext cx="141732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2578608" y="2365248"/>
            <a:ext cx="1417320" cy="5181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578608" y="2883408"/>
            <a:ext cx="141732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21915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7552" y="270967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404872" y="21915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04872" y="270967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22192" y="21915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822192" y="270967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04088" y="2246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" y="2764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21408" y="2246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21408" y="2764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38728" y="2246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38728" y="2764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0434" y="209092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00277" y="221528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00277" y="248473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0434" y="2609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57754" y="209092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17597" y="248473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17597" y="221528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57754" y="2609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함수가 없는 2층 MLP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07408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식을 그대로 대입해 보면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53128" y="18836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 = 7x₁ + 3x₂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453128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 = 2x₁ + 5x₂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53128" y="2688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o₁ = 3z₁ + 2z₂  =  25x₁ + 19x₂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453128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= 4z₁ + 6z₂  =  40x₁ + 42x₂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065008" y="1499616"/>
            <a:ext cx="3785616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321040" y="1682496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에 대한 1차식이</a:t>
            </a:r>
            <a:endParaRPr lang="en-US" sz="18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남았다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321040" y="246888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2층을 쌓았는데 1층과 표현력이 똑같다.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직선을 몇 번 겹쳐도 직선이기 때문이다.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9768" y="3547872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깊이가 의미를 가지려면, 층 사이에 “직선이 아닌 것”이 끼어야 한다  →  활성화 함수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9768" y="3977640"/>
            <a:ext cx="359359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85800" y="4764024"/>
            <a:ext cx="960120" cy="91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165860" y="4306824"/>
            <a:ext cx="91" cy="914400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8580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71247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3914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76581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9248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1915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4582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7249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9916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2583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95250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7917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0584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3251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05918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8585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1252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139190" y="4764024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flipV="1">
            <a:off x="1165860" y="4740833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1192530" y="4717641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 flipV="1">
            <a:off x="1219200" y="4694450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 flipV="1">
            <a:off x="1245870" y="4671259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flipV="1">
            <a:off x="1272540" y="4648067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 flipV="1">
            <a:off x="1299210" y="4624876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 flipV="1">
            <a:off x="1325880" y="4601685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 flipV="1">
            <a:off x="1352550" y="4578494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 flipV="1">
            <a:off x="1379220" y="4555302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 flipV="1">
            <a:off x="1405890" y="4532111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flipV="1">
            <a:off x="1432560" y="4508920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flipV="1">
            <a:off x="1459230" y="4485728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 flipV="1">
            <a:off x="1485900" y="4462537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V="1">
            <a:off x="1512570" y="4439346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 flipV="1">
            <a:off x="1539240" y="4416154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 flipV="1">
            <a:off x="1565910" y="4392963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 flipV="1">
            <a:off x="1592580" y="4369772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 flipV="1">
            <a:off x="1619250" y="4346581"/>
            <a:ext cx="26670" cy="23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801368" y="42336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801368" y="4553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x)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1801367" y="4873752"/>
            <a:ext cx="2066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0보다 작으면 0,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크면 그대로. 가장 널리 쓰인다.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343400" y="3977640"/>
            <a:ext cx="359359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4599432" y="4764024"/>
            <a:ext cx="960120" cy="91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079492" y="4306824"/>
            <a:ext cx="91" cy="914400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 flipV="1">
            <a:off x="4599432" y="4763582"/>
            <a:ext cx="26670" cy="14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 flipV="1">
            <a:off x="4626102" y="4763365"/>
            <a:ext cx="26670" cy="21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 flipV="1">
            <a:off x="4652772" y="4763041"/>
            <a:ext cx="26670" cy="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 flipV="1">
            <a:off x="4679442" y="4762559"/>
            <a:ext cx="26670" cy="48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 flipV="1">
            <a:off x="4706112" y="4761843"/>
            <a:ext cx="26670" cy="71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 flipV="1">
            <a:off x="4732782" y="4760779"/>
            <a:ext cx="26670" cy="106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 flipV="1">
            <a:off x="4759452" y="4759202"/>
            <a:ext cx="26670" cy="157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 flipV="1">
            <a:off x="4786122" y="4756873"/>
            <a:ext cx="26670" cy="232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 flipV="1">
            <a:off x="4812792" y="4753450"/>
            <a:ext cx="26670" cy="34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 flipV="1">
            <a:off x="4839462" y="4748453"/>
            <a:ext cx="26670" cy="499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 flipV="1">
            <a:off x="4866132" y="4741234"/>
            <a:ext cx="26670" cy="721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 flipV="1">
            <a:off x="4892802" y="4730957"/>
            <a:ext cx="26670" cy="1027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 flipV="1">
            <a:off x="4919472" y="4716633"/>
            <a:ext cx="26670" cy="14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 flipV="1">
            <a:off x="4946142" y="4697240"/>
            <a:ext cx="26670" cy="1939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 flipV="1">
            <a:off x="4972812" y="4671998"/>
            <a:ext cx="26670" cy="2524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 flipV="1">
            <a:off x="4999482" y="4640769"/>
            <a:ext cx="26670" cy="3122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 flipV="1">
            <a:off x="5026152" y="4604476"/>
            <a:ext cx="26670" cy="3629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 flipV="1">
            <a:off x="5052822" y="4565241"/>
            <a:ext cx="26670" cy="39235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 flipV="1">
            <a:off x="5079492" y="4526007"/>
            <a:ext cx="26670" cy="39235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 flipV="1">
            <a:off x="5106162" y="4489714"/>
            <a:ext cx="26670" cy="3629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 flipV="1">
            <a:off x="5132832" y="4458485"/>
            <a:ext cx="26670" cy="3122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 flipV="1">
            <a:off x="5159502" y="4433242"/>
            <a:ext cx="26670" cy="2524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 flipV="1">
            <a:off x="5186172" y="4413850"/>
            <a:ext cx="26670" cy="1939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 flipV="1">
            <a:off x="5212842" y="4399525"/>
            <a:ext cx="26670" cy="14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 flipV="1">
            <a:off x="5239512" y="4389249"/>
            <a:ext cx="26670" cy="1027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 flipV="1">
            <a:off x="5266182" y="4382030"/>
            <a:ext cx="26670" cy="721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 flipV="1">
            <a:off x="5292852" y="4377033"/>
            <a:ext cx="26670" cy="499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 flipV="1">
            <a:off x="5319522" y="4373609"/>
            <a:ext cx="26670" cy="34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 flipV="1">
            <a:off x="5346192" y="4371281"/>
            <a:ext cx="26670" cy="2329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 flipV="1">
            <a:off x="5372862" y="4369704"/>
            <a:ext cx="26670" cy="157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 flipV="1">
            <a:off x="5399532" y="4368640"/>
            <a:ext cx="26670" cy="106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 flipV="1">
            <a:off x="5426202" y="4367924"/>
            <a:ext cx="26670" cy="71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 flipV="1">
            <a:off x="5452872" y="4367442"/>
            <a:ext cx="26670" cy="48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 flipV="1">
            <a:off x="5479542" y="4367118"/>
            <a:ext cx="26670" cy="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 flipV="1">
            <a:off x="5506212" y="4366901"/>
            <a:ext cx="26670" cy="21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 flipV="1">
            <a:off x="5532882" y="4366755"/>
            <a:ext cx="26670" cy="146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5715000" y="42336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5715000" y="4553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~ 1 사이로</a:t>
            </a:r>
            <a:endParaRPr lang="en-US" sz="1300" dirty="0"/>
          </a:p>
        </p:txBody>
      </p:sp>
      <p:sp>
        <p:nvSpPr>
          <p:cNvPr id="126" name="Text 124"/>
          <p:cNvSpPr/>
          <p:nvPr/>
        </p:nvSpPr>
        <p:spPr>
          <a:xfrm>
            <a:off x="5715000" y="48737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값을 확률처럼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눌러 담는다.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257032" y="3977640"/>
            <a:ext cx="359359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8513064" y="4764024"/>
            <a:ext cx="960120" cy="91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8993124" y="4306824"/>
            <a:ext cx="91" cy="914400"/>
          </a:xfrm>
          <a:prstGeom prst="line">
            <a:avLst/>
          </a:prstGeom>
          <a:noFill/>
          <a:ln w="127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 flipV="1">
            <a:off x="8513064" y="5161537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 flipV="1">
            <a:off x="8539734" y="5161497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flipV="1">
            <a:off x="8566404" y="5161427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 flipV="1">
            <a:off x="8593074" y="5161304"/>
            <a:ext cx="26670" cy="1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 flipV="1">
            <a:off x="8619744" y="5161087"/>
            <a:ext cx="26670" cy="21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 flipV="1">
            <a:off x="8646414" y="5160705"/>
            <a:ext cx="26670" cy="38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 flipV="1">
            <a:off x="8673084" y="5160032"/>
            <a:ext cx="26670" cy="67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 flipV="1">
            <a:off x="8699754" y="5158848"/>
            <a:ext cx="26670" cy="118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 flipV="1">
            <a:off x="8726424" y="5156771"/>
            <a:ext cx="26670" cy="207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 flipV="1">
            <a:off x="8753094" y="5153137"/>
            <a:ext cx="26670" cy="363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 flipV="1">
            <a:off x="8779764" y="5146812"/>
            <a:ext cx="26670" cy="6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 flipV="1">
            <a:off x="8806434" y="5135910"/>
            <a:ext cx="26670" cy="1090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 flipV="1">
            <a:off x="8833104" y="5117420"/>
            <a:ext cx="26670" cy="18490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 flipV="1">
            <a:off x="8859774" y="5086909"/>
            <a:ext cx="26670" cy="3051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 flipV="1">
            <a:off x="8886444" y="5038769"/>
            <a:ext cx="26670" cy="48140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 flipV="1">
            <a:off x="8913114" y="4967938"/>
            <a:ext cx="26670" cy="7083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 flipV="1">
            <a:off x="8939784" y="4873747"/>
            <a:ext cx="26670" cy="94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 flipV="1">
            <a:off x="8966454" y="4764024"/>
            <a:ext cx="26670" cy="1097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 flipV="1">
            <a:off x="8993124" y="4654301"/>
            <a:ext cx="26670" cy="1097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 flipV="1">
            <a:off x="9019794" y="4560110"/>
            <a:ext cx="26670" cy="941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 flipV="1">
            <a:off x="9046464" y="4489279"/>
            <a:ext cx="26670" cy="7083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 flipV="1">
            <a:off x="9073134" y="4441139"/>
            <a:ext cx="26670" cy="48140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 flipV="1">
            <a:off x="9099804" y="4410628"/>
            <a:ext cx="26670" cy="3051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 flipV="1">
            <a:off x="9126474" y="4392138"/>
            <a:ext cx="26670" cy="18490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 flipV="1">
            <a:off x="9153144" y="4381236"/>
            <a:ext cx="26670" cy="1090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 flipV="1">
            <a:off x="9179814" y="4374911"/>
            <a:ext cx="26670" cy="632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 flipV="1">
            <a:off x="9206484" y="4371277"/>
            <a:ext cx="26670" cy="3634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 flipV="1">
            <a:off x="9233154" y="4369200"/>
            <a:ext cx="26670" cy="207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 flipV="1">
            <a:off x="9259824" y="4368016"/>
            <a:ext cx="26670" cy="118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 flipV="1">
            <a:off x="9286494" y="4367343"/>
            <a:ext cx="26670" cy="67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 flipV="1">
            <a:off x="9313164" y="4366961"/>
            <a:ext cx="26670" cy="382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 flipV="1">
            <a:off x="9339834" y="4366744"/>
            <a:ext cx="26670" cy="217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 flipV="1">
            <a:off x="9366504" y="4366621"/>
            <a:ext cx="26670" cy="123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 flipV="1">
            <a:off x="9393174" y="4366551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 flipV="1">
            <a:off x="9419844" y="4366511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 flipV="1">
            <a:off x="9446514" y="4366488"/>
            <a:ext cx="2667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Text 164"/>
          <p:cNvSpPr/>
          <p:nvPr/>
        </p:nvSpPr>
        <p:spPr>
          <a:xfrm>
            <a:off x="9628632" y="42336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600" dirty="0"/>
          </a:p>
        </p:txBody>
      </p:sp>
      <p:sp>
        <p:nvSpPr>
          <p:cNvPr id="167" name="Text 165"/>
          <p:cNvSpPr/>
          <p:nvPr/>
        </p:nvSpPr>
        <p:spPr>
          <a:xfrm>
            <a:off x="9628632" y="4553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~ 1 사이로</a:t>
            </a:r>
            <a:endParaRPr lang="en-US" sz="1300" dirty="0"/>
          </a:p>
        </p:txBody>
      </p:sp>
      <p:sp>
        <p:nvSpPr>
          <p:cNvPr id="168" name="Text 166"/>
          <p:cNvSpPr/>
          <p:nvPr/>
        </p:nvSpPr>
        <p:spPr>
          <a:xfrm>
            <a:off x="9628632" y="48737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0을 중심으로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눌러 담는다.</a:t>
            </a:r>
            <a:endParaRPr lang="en-US" sz="1200" dirty="0"/>
          </a:p>
        </p:txBody>
      </p:sp>
      <p:sp>
        <p:nvSpPr>
          <p:cNvPr id="169" name="Text 167"/>
          <p:cNvSpPr/>
          <p:nvPr/>
        </p:nvSpPr>
        <p:spPr>
          <a:xfrm>
            <a:off x="429768" y="5687568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활성화 함수를 쓸지도 데이터가 알려주지 않는다 — 내가 고르는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내용 복습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경사하강법인가 — 다 넣어볼 수 없고, 그래프도 볼 수 없다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417320"/>
            <a:ext cx="11420856" cy="566928"/>
          </a:xfrm>
          <a:prstGeom prst="roundRect">
            <a:avLst>
              <a:gd name="adj" fmla="val 8065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" y="1417320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=  ① 예측한다  →  ② 틀린 정도(손실)를 잰다  →  ③ 손실이 줄어드는 방향으로 고친다  →  ④ 반복한다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" y="2194560"/>
            <a:ext cx="33604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 1 — 다 넣어볼 수 없다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848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2개를 각각 100가지만 시도해도 → 10,000번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848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MLP는 가중치가 수만 개다.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대입해 보는 </a:t>
            </a:r>
            <a:r>
              <a:rPr lang="en-US" sz="13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방법은</a:t>
            </a: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애초에</a:t>
            </a:r>
            <a:endParaRPr lang="en-US" sz="1300" dirty="0">
              <a:solidFill>
                <a:srgbClr val="5E7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불가능하다</a:t>
            </a: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18788" y="2194560"/>
            <a:ext cx="33604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274820" y="2377440"/>
            <a:ext cx="2848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 2 — 그래프를 볼 수 없다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4820" y="2697480"/>
            <a:ext cx="2848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그래프를 보고 최소점을 짚지만, AI는 못 본다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74820" y="3246120"/>
            <a:ext cx="2848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아는 것은 “지금 서 있는 자리의 </a:t>
            </a:r>
            <a:r>
              <a:rPr lang="en-US" sz="13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기울기”뿐</a:t>
            </a: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27048" y="5715000"/>
            <a:ext cx="4023360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527048" y="4251960"/>
            <a:ext cx="91" cy="1463040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81912" y="4233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27048" y="4110479"/>
            <a:ext cx="91440" cy="13826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18488" y="4248745"/>
            <a:ext cx="91440" cy="131834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709928" y="4380579"/>
            <a:ext cx="91440" cy="125403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01368" y="4505982"/>
            <a:ext cx="91440" cy="11897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892808" y="4624955"/>
            <a:ext cx="91440" cy="11254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984248" y="4737496"/>
            <a:ext cx="91440" cy="106111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075688" y="4843607"/>
            <a:ext cx="91440" cy="99680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167128" y="4943287"/>
            <a:ext cx="91440" cy="93249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258568" y="5036535"/>
            <a:ext cx="91440" cy="86818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350008" y="5123353"/>
            <a:ext cx="91440" cy="80387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441448" y="5203740"/>
            <a:ext cx="91440" cy="73956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532888" y="5277696"/>
            <a:ext cx="91440" cy="6752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624328" y="5345221"/>
            <a:ext cx="91440" cy="61094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715768" y="5406315"/>
            <a:ext cx="91440" cy="54663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807208" y="5460978"/>
            <a:ext cx="91440" cy="4823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898648" y="5509210"/>
            <a:ext cx="91440" cy="41801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990088" y="5551011"/>
            <a:ext cx="91440" cy="35370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081528" y="5586381"/>
            <a:ext cx="91440" cy="28939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172968" y="5615320"/>
            <a:ext cx="91440" cy="22508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264408" y="5637829"/>
            <a:ext cx="91440" cy="16077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355848" y="5653906"/>
            <a:ext cx="91440" cy="9646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447288" y="5663552"/>
            <a:ext cx="91440" cy="321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 flipV="1">
            <a:off x="3538728" y="5663552"/>
            <a:ext cx="91440" cy="321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V="1">
            <a:off x="3630168" y="5653906"/>
            <a:ext cx="91440" cy="9646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V="1">
            <a:off x="3721608" y="5637829"/>
            <a:ext cx="91440" cy="16077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V="1">
            <a:off x="3813048" y="5615320"/>
            <a:ext cx="91440" cy="22508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 flipV="1">
            <a:off x="3904488" y="5586381"/>
            <a:ext cx="91440" cy="28939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 flipV="1">
            <a:off x="3995928" y="5551011"/>
            <a:ext cx="91440" cy="35370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 flipV="1">
            <a:off x="4087368" y="5509210"/>
            <a:ext cx="91440" cy="41801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 flipV="1">
            <a:off x="4178808" y="5460978"/>
            <a:ext cx="91440" cy="4823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 flipV="1">
            <a:off x="4270248" y="5406315"/>
            <a:ext cx="91440" cy="54663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 flipV="1">
            <a:off x="4361688" y="5345221"/>
            <a:ext cx="91440" cy="61094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 flipV="1">
            <a:off x="4453128" y="5277696"/>
            <a:ext cx="91440" cy="6752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 flipV="1">
            <a:off x="4544568" y="5203740"/>
            <a:ext cx="91440" cy="73956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 flipV="1">
            <a:off x="4636008" y="5123353"/>
            <a:ext cx="91440" cy="80387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 flipV="1">
            <a:off x="4727448" y="5036535"/>
            <a:ext cx="91440" cy="86818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 flipV="1">
            <a:off x="4818888" y="4943287"/>
            <a:ext cx="91440" cy="93249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 flipV="1">
            <a:off x="4910328" y="4843607"/>
            <a:ext cx="91440" cy="99680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 flipV="1">
            <a:off x="5001768" y="4737496"/>
            <a:ext cx="91440" cy="106111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 flipV="1">
            <a:off x="5093208" y="4624955"/>
            <a:ext cx="91440" cy="11254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 flipV="1">
            <a:off x="5184648" y="4505982"/>
            <a:ext cx="91440" cy="118972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V="1">
            <a:off x="5276088" y="4380579"/>
            <a:ext cx="91440" cy="125403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5367528" y="4248745"/>
            <a:ext cx="91440" cy="131834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 flipV="1">
            <a:off x="5458968" y="4110479"/>
            <a:ext cx="91440" cy="138265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864608" y="4802811"/>
            <a:ext cx="182880" cy="182880"/>
          </a:xfrm>
          <a:prstGeom prst="ellipse">
            <a:avLst/>
          </a:prstGeom>
          <a:solidFill>
            <a:srgbClr val="B35F44"/>
          </a:solidFill>
          <a:ln w="635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flipV="1">
            <a:off x="4315968" y="4296173"/>
            <a:ext cx="1188720" cy="1295835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2670048" y="4565067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여기 — 기울기가 양수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65576" y="5593616"/>
            <a:ext cx="146304" cy="14630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3172968" y="57582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041648" y="5897880"/>
            <a:ext cx="960120" cy="91"/>
          </a:xfrm>
          <a:prstGeom prst="line">
            <a:avLst/>
          </a:prstGeom>
          <a:noFill/>
          <a:ln w="19050">
            <a:solidFill>
              <a:srgbClr val="002233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1618488" y="6099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기울기가 양수 → 왼쪽으로 이동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178808" y="6099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95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(가중치)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53528" y="2194560"/>
            <a:ext cx="4197096" cy="3566160"/>
          </a:xfrm>
          <a:prstGeom prst="roundRect">
            <a:avLst>
              <a:gd name="adj" fmla="val 1282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927848" y="239572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경사하강법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927848" y="274320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위치 = 현재 위치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　　 − (학습률 × 기울기)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927848" y="3657600"/>
            <a:ext cx="3648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기울기가 양수면 왼쪽으로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기울기가 음수면 오른쪽으로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기울기가 0이면 도착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927848" y="4681728"/>
            <a:ext cx="3648456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927848" y="4791456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지도를 몰라도,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발밑 기울기만으로 내려갈 수 있다.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653528" y="587044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걸음의 크기(학습률)에도 정답 공식은 없다 — 이것도 내가 정하는 값이다.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 ① MSE — 회귀에서 “틀린 정도”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4709160"/>
            <a:ext cx="4114800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91" cy="2926080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93008" y="4782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95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764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955548" y="2192731"/>
            <a:ext cx="3703320" cy="2048256"/>
          </a:xfrm>
          <a:prstGeom prst="line">
            <a:avLst/>
          </a:prstGeom>
          <a:noFill/>
          <a:ln w="285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572768" y="3480206"/>
            <a:ext cx="91" cy="419405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99616" y="3407054"/>
            <a:ext cx="146304" cy="146304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189988" y="3558235"/>
            <a:ext cx="91" cy="243840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116836" y="3728923"/>
            <a:ext cx="146304" cy="146304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807208" y="2953512"/>
            <a:ext cx="91" cy="263347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34056" y="2880360"/>
            <a:ext cx="146304" cy="146304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24428" y="2875483"/>
            <a:ext cx="91" cy="399898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351276" y="3202229"/>
            <a:ext cx="146304" cy="146304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041648" y="2280514"/>
            <a:ext cx="91" cy="253594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968496" y="2207362"/>
            <a:ext cx="146304" cy="146304"/>
          </a:xfrm>
          <a:prstGeom prst="ellipse">
            <a:avLst/>
          </a:prstGeom>
          <a:solidFill>
            <a:srgbClr val="002233"/>
          </a:solidFill>
          <a:ln w="635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86968" y="5001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= 오차 (정답 − 예측)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1645920"/>
            <a:ext cx="6528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=  (정답 − 예측)² 의 평균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321808" y="2240280"/>
            <a:ext cx="6528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제곱을 할까?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21808" y="2606040"/>
            <a:ext cx="6528816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0" y="2734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61888" y="272491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부호를 없앤다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1888" y="3026664"/>
            <a:ext cx="561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만큼 틀린 것과 −3 만큼 틀린 것은</a:t>
            </a:r>
            <a:endParaRPr lang="en-US" sz="140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똑같이 “3만큼 틀렸다”. 그냥 더하면 상쇄된다.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21808" y="3657600"/>
            <a:ext cx="6528816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57784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61888" y="377647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오차에 더 큰 벌점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1888" y="4078224"/>
            <a:ext cx="561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2배 틀리면 벌점은 4배. 크게 틀리는 걸</a:t>
            </a:r>
            <a:endParaRPr lang="en-US" sz="140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싫어하게 만든다.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21808" y="4709160"/>
            <a:ext cx="6528816" cy="932688"/>
          </a:xfrm>
          <a:prstGeom prst="roundRect">
            <a:avLst>
              <a:gd name="adj" fmla="val 4902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577840" y="4837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61888" y="482803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미분이 깔끔하다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61888" y="5129784"/>
            <a:ext cx="561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절댓값은 꺾이는 점에서 기울기가 없다.</a:t>
            </a:r>
            <a:endParaRPr lang="en-US" sz="140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제곱은 어디서나 기울기를 구할 수 있다.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21808" y="5760720"/>
            <a:ext cx="6528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3번이 특히 중요합니다 — 경사하강법을 쓰려면 손실함수는 미분할 수 있어야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분류는? 정답이 “강아지”인데, 무엇을 뺄까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508760"/>
            <a:ext cx="11420856" cy="1051560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29768" y="1508760"/>
            <a:ext cx="11420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“강아지” − “고양이”  =  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9768" y="2880360"/>
            <a:ext cx="5550408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04088" y="310896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회귀에서는 쉬웠다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3429000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정답도 숫자, 예측도 숫자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384048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172 cm,  예측 168 cm</a:t>
            </a:r>
            <a:endParaRPr lang="en-US" sz="1700" dirty="0"/>
          </a:p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오차 4,  제곱하면 16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" y="470916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빼는 것 자체가 아무 문제도 없었다.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0216" y="2880360"/>
            <a:ext cx="5550408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74536" y="310896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분류에서는 막힌다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74536" y="3429000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정답이 이름(범주)이다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74536" y="384048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“강아지”,  예측 “고양이”</a:t>
            </a:r>
            <a:endParaRPr lang="en-US" sz="1700" dirty="0"/>
          </a:p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오차가 얼마?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74536" y="4663440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뺄셈을 하려면, 먼저 정답과 예측을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“숫자”로 바꿔야 한다.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" y="5943600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“숫자로 바꾸는 방법”을 정하는 것이 — 출력층을 설계하는 일입니다.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 ① 출력 하나에 번호를 매기면 안 될까?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flipV="1">
            <a:off x="1252728" y="2194560"/>
            <a:ext cx="1783080" cy="731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52728" y="2267712"/>
            <a:ext cx="1783080" cy="29260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52728" y="2267712"/>
            <a:ext cx="1783080" cy="6583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52728" y="2267712"/>
            <a:ext cx="1783080" cy="102412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52728" y="2267712"/>
            <a:ext cx="1783080" cy="13898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V="1">
            <a:off x="1252728" y="2194560"/>
            <a:ext cx="1783080" cy="51206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1252728" y="2560320"/>
            <a:ext cx="1783080" cy="14630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52728" y="2706624"/>
            <a:ext cx="1783080" cy="2194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52728" y="2706624"/>
            <a:ext cx="1783080" cy="58521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52728" y="2706624"/>
            <a:ext cx="1783080" cy="9509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252728" y="2194560"/>
            <a:ext cx="1783080" cy="9509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 flipV="1">
            <a:off x="1252728" y="2560320"/>
            <a:ext cx="1783080" cy="58521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 flipV="1">
            <a:off x="1252728" y="2926080"/>
            <a:ext cx="1783080" cy="2194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252728" y="3145536"/>
            <a:ext cx="1783080" cy="14630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52728" y="3145536"/>
            <a:ext cx="1783080" cy="51206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 flipV="1">
            <a:off x="1252728" y="2194560"/>
            <a:ext cx="1783080" cy="13898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 flipV="1">
            <a:off x="1252728" y="2560320"/>
            <a:ext cx="1783080" cy="102412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 flipV="1">
            <a:off x="1252728" y="2926080"/>
            <a:ext cx="1783080" cy="6583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V="1">
            <a:off x="1252728" y="3291840"/>
            <a:ext cx="1783080" cy="29260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252728" y="3584448"/>
            <a:ext cx="1783080" cy="731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035808" y="2194560"/>
            <a:ext cx="1783080" cy="7315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035808" y="2560320"/>
            <a:ext cx="1783080" cy="3657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035808" y="2926080"/>
            <a:ext cx="1783080" cy="91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 flipV="1">
            <a:off x="3035808" y="2926080"/>
            <a:ext cx="1783080" cy="36576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3035808" y="2926080"/>
            <a:ext cx="1783080" cy="731520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97280" y="211226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97280" y="255117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97280" y="29900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97280" y="342900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880360" y="20391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880360" y="24048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880360" y="277063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880360" y="313639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880360" y="350215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663440" y="277063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093208" y="2926080"/>
            <a:ext cx="50292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733288" y="2651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1F5F8"/>
          </a:solidFill>
          <a:ln w="158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73328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50468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1개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69848" y="4480560"/>
            <a:ext cx="4846320" cy="91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69848" y="4398264"/>
            <a:ext cx="91" cy="164592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04088" y="4608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1208" y="4901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85288" y="4398264"/>
            <a:ext cx="91" cy="164592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319528" y="4608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136648" y="4901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0728" y="4398264"/>
            <a:ext cx="91" cy="164592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934968" y="4608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752088" y="4901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916168" y="4398264"/>
            <a:ext cx="91" cy="164592"/>
          </a:xfrm>
          <a:prstGeom prst="line">
            <a:avLst/>
          </a:prstGeom>
          <a:noFill/>
          <a:ln w="19050">
            <a:solidFill>
              <a:srgbClr val="5E70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550408" y="4608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67528" y="4901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69848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클래스마다 번호를 하나씩 배정하고, y 하나로 맞히게 한다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373368" y="1600200"/>
            <a:ext cx="5477256" cy="1828800"/>
          </a:xfrm>
          <a:prstGeom prst="roundRect">
            <a:avLst>
              <a:gd name="adj" fmla="val 2500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647688" y="1810512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하고 싶어질까?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647688" y="2130552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배운 방식이 그랬기 때문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6647688" y="2514600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키를 맞힐 때도 출력은 하나였다.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하나에 숫자 하나 — 자연스러운 확장처럼 보인다.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373368" y="3657600"/>
            <a:ext cx="5477256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647688" y="388620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학습시켜 보면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647688" y="42062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안 됩니다.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647688" y="4736592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안 되는지를 알면,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출력층이 왜 그렇게 생겼는지가 보입니다.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안 되는가 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554480"/>
            <a:ext cx="359359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04088" y="1828800"/>
            <a:ext cx="420624" cy="420624"/>
          </a:xfrm>
          <a:prstGeom prst="ellipse">
            <a:avLst/>
          </a:prstGeom>
          <a:solidFill>
            <a:srgbClr val="B35F44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4231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없는 순서가 생긴다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" y="3072384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 0, 개구리 3이면 둘은 “3만큼”</a:t>
            </a: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다르고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강아지와 고양이는 “1만큼”</a:t>
            </a: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셈이 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" y="4206240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04088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클래스는 순서도, 거리도 없다.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9359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20624" cy="420624"/>
          </a:xfrm>
          <a:prstGeom prst="ellipse">
            <a:avLst/>
          </a:prstGeom>
          <a:solidFill>
            <a:srgbClr val="B35F44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중간값이 무의미하다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072384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1.5를 출력했다.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“고양이 반, 말 반”인 동물은 없다.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4206240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사이를 메울 뜻이 없다.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57032" y="1554480"/>
            <a:ext cx="359359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531352" y="1828800"/>
            <a:ext cx="420624" cy="420624"/>
          </a:xfrm>
          <a:prstGeom prst="ellipse">
            <a:avLst/>
          </a:prstGeom>
          <a:solidFill>
            <a:srgbClr val="B35F44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53135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31352" y="24231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확신을 표현할 수 없다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31352" y="3072384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“강아지일 확률 90%”와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“그냥 강아지”를 구분할 방법이 없다.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31352" y="4206240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31352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 확실한지 말할 수 없다.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" y="4892040"/>
            <a:ext cx="11420856" cy="9144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4088" y="4892040"/>
            <a:ext cx="10872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문제는 “출력이 하나”라는 점이었다  →  그러면 클래스마다 출력을 하나씩 두면 어떨까?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 ② 클래스마다 출력을 하나씩 — 그래서 여러 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flipV="1">
            <a:off x="1069848" y="2194560"/>
            <a:ext cx="1828800" cy="10058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9848" y="2295144"/>
            <a:ext cx="1828800" cy="40233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69848" y="2295144"/>
            <a:ext cx="1828800" cy="9052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69848" y="2295144"/>
            <a:ext cx="1828800" cy="14081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9848" y="2295144"/>
            <a:ext cx="1828800" cy="191109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V="1">
            <a:off x="1069848" y="2194560"/>
            <a:ext cx="1828800" cy="7040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1069848" y="2697480"/>
            <a:ext cx="1828800" cy="2011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69848" y="2898648"/>
            <a:ext cx="1828800" cy="3017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69848" y="2898648"/>
            <a:ext cx="1828800" cy="80467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9848" y="2898648"/>
            <a:ext cx="1828800" cy="130759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69848" y="2194560"/>
            <a:ext cx="1828800" cy="130759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 flipV="1">
            <a:off x="1069848" y="2697480"/>
            <a:ext cx="1828800" cy="80467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 flipV="1">
            <a:off x="1069848" y="3200400"/>
            <a:ext cx="1828800" cy="3017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69848" y="3502152"/>
            <a:ext cx="1828800" cy="2011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69848" y="3502152"/>
            <a:ext cx="1828800" cy="7040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 flipV="1">
            <a:off x="1069848" y="2194560"/>
            <a:ext cx="1828800" cy="191109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 flipV="1">
            <a:off x="1069848" y="2697480"/>
            <a:ext cx="1828800" cy="14081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 flipV="1">
            <a:off x="1069848" y="3200400"/>
            <a:ext cx="1828800" cy="9052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V="1">
            <a:off x="1069848" y="3703320"/>
            <a:ext cx="1828800" cy="40233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69848" y="4105656"/>
            <a:ext cx="1828800" cy="10058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898648" y="2194560"/>
            <a:ext cx="1828800" cy="10058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898648" y="2194560"/>
            <a:ext cx="1828800" cy="7040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898648" y="2194560"/>
            <a:ext cx="1828800" cy="130759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898648" y="2194560"/>
            <a:ext cx="1828800" cy="191109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2898648" y="2295144"/>
            <a:ext cx="1828800" cy="40233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898648" y="2697480"/>
            <a:ext cx="1828800" cy="2011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898648" y="2697480"/>
            <a:ext cx="1828800" cy="80467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898648" y="2697480"/>
            <a:ext cx="1828800" cy="14081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 flipV="1">
            <a:off x="2898648" y="2295144"/>
            <a:ext cx="1828800" cy="9052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V="1">
            <a:off x="2898648" y="2898648"/>
            <a:ext cx="1828800" cy="3017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898648" y="3200400"/>
            <a:ext cx="1828800" cy="30175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898648" y="3200400"/>
            <a:ext cx="1828800" cy="90525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 flipV="1">
            <a:off x="2898648" y="2295144"/>
            <a:ext cx="1828800" cy="140817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 flipV="1">
            <a:off x="2898648" y="2898648"/>
            <a:ext cx="1828800" cy="80467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 flipV="1">
            <a:off x="2898648" y="3502152"/>
            <a:ext cx="1828800" cy="20116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898648" y="3703320"/>
            <a:ext cx="1828800" cy="40233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V="1">
            <a:off x="2898648" y="2295144"/>
            <a:ext cx="1828800" cy="1911096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V="1">
            <a:off x="2898648" y="2898648"/>
            <a:ext cx="1828800" cy="1307592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V="1">
            <a:off x="2898648" y="3502152"/>
            <a:ext cx="1828800" cy="704088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 flipV="1">
            <a:off x="2898648" y="4105656"/>
            <a:ext cx="1828800" cy="100584"/>
          </a:xfrm>
          <a:prstGeom prst="line">
            <a:avLst/>
          </a:prstGeom>
          <a:noFill/>
          <a:ln w="9525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14400" y="213969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14400" y="274320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14400" y="33467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395020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743200" y="20391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743200" y="254203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743200" y="304495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743200" y="354787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743200" y="405079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572000" y="213969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572000" y="274320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572000" y="33467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572000" y="395020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983480" y="2295144"/>
            <a:ext cx="384048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44068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강아지일 점수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983480" y="2898648"/>
            <a:ext cx="384048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44068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고양이일 점수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983480" y="3502152"/>
            <a:ext cx="384048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44068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말일 점수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983480" y="4105656"/>
            <a:ext cx="384048" cy="91"/>
          </a:xfrm>
          <a:prstGeom prst="line">
            <a:avLst/>
          </a:prstGeom>
          <a:noFill/>
          <a:ln w="15875">
            <a:solidFill>
              <a:srgbClr val="5E707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544068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개구리일 점수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709928" y="4937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4개 — 클래스 4개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64808" y="1554480"/>
            <a:ext cx="5385816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6739128" y="176479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생각을 바꾸면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739128" y="208483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“어느 동물이니?” 질문 하나가 아니라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6739128" y="242316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“강아지야?” “고양이야?” “말이야?” “개구리야?”</a:t>
            </a:r>
            <a:endParaRPr lang="en-US" sz="1700" dirty="0"/>
          </a:p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개의 질문을 각각 묻는 것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6464808" y="3657600"/>
            <a:ext cx="5385816" cy="2103120"/>
          </a:xfrm>
          <a:prstGeom prst="roundRect">
            <a:avLst>
              <a:gd name="adj" fmla="val 2174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6739128" y="386791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정답도 같은 모양으로 — One-hot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757416" y="4279392"/>
            <a:ext cx="658368" cy="548640"/>
          </a:xfrm>
          <a:prstGeom prst="rect">
            <a:avLst/>
          </a:prstGeom>
          <a:solidFill>
            <a:srgbClr val="3078B4"/>
          </a:solidFill>
          <a:ln w="158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6757416" y="42793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6665976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543800" y="4279392"/>
            <a:ext cx="65836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543800" y="42793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7452360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330184" y="4279392"/>
            <a:ext cx="65836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8330184" y="42793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8238744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116568" y="4279392"/>
            <a:ext cx="65836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9116568" y="42793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9025128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739128" y="5102352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클래스만 1, 나머지는 0. 번호가 아니라 “해당 여부”라서 순서가 생기지 않는다.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429768" y="5943600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개수는 내가 정하는 값입니다 — 다만 “클래스 수”라는 답이 문제에 이미 적혀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— 점수를 확률로 바꾸기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648" y="1737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낸 점수 (실수)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3520440"/>
            <a:ext cx="2523744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9808" y="2273531"/>
            <a:ext cx="438912" cy="1246909"/>
          </a:xfrm>
          <a:prstGeom prst="rect">
            <a:avLst/>
          </a:prstGeom>
          <a:solidFill>
            <a:srgbClr val="B35F44"/>
          </a:solidFill>
          <a:ln w="635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2017499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53312" y="2896985"/>
            <a:ext cx="438912" cy="623455"/>
          </a:xfrm>
          <a:prstGeom prst="rect">
            <a:avLst/>
          </a:prstGeom>
          <a:solidFill>
            <a:srgbClr val="B35F44"/>
          </a:solidFill>
          <a:ln w="635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5296" y="2640953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07008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3520440"/>
            <a:ext cx="438912" cy="311727"/>
          </a:xfrm>
          <a:prstGeom prst="rect">
            <a:avLst/>
          </a:prstGeom>
          <a:solidFill>
            <a:srgbClr val="B35F44"/>
          </a:solidFill>
          <a:ln w="635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28800" y="32461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395749"/>
            <a:ext cx="438912" cy="124691"/>
          </a:xfrm>
          <a:prstGeom prst="rect">
            <a:avLst/>
          </a:prstGeom>
          <a:solidFill>
            <a:srgbClr val="B35F44"/>
          </a:solidFill>
          <a:ln w="635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32304" y="3139717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14016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18104" y="2926080"/>
            <a:ext cx="64008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054096" y="2532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76472" y="17373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(합 = 1)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76472" y="3520440"/>
            <a:ext cx="2523744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913632" y="2671291"/>
            <a:ext cx="438912" cy="849149"/>
          </a:xfrm>
          <a:prstGeom prst="rect">
            <a:avLst/>
          </a:prstGeom>
          <a:solidFill>
            <a:srgbClr val="3078B4"/>
          </a:solidFill>
          <a:ln w="635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785616" y="2415259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67328" y="3794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17136" y="3208055"/>
            <a:ext cx="438912" cy="312385"/>
          </a:xfrm>
          <a:prstGeom prst="rect">
            <a:avLst/>
          </a:prstGeom>
          <a:solidFill>
            <a:srgbClr val="3078B4"/>
          </a:solidFill>
          <a:ln w="635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389120" y="2952023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0832" y="3794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450738"/>
            <a:ext cx="438912" cy="69702"/>
          </a:xfrm>
          <a:prstGeom prst="rect">
            <a:avLst/>
          </a:prstGeom>
          <a:solidFill>
            <a:srgbClr val="3078B4"/>
          </a:solidFill>
          <a:ln w="635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92624" y="319470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3794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24144" y="3380077"/>
            <a:ext cx="438912" cy="140363"/>
          </a:xfrm>
          <a:prstGeom prst="rect">
            <a:avLst/>
          </a:prstGeom>
          <a:solidFill>
            <a:srgbClr val="3078B4"/>
          </a:solidFill>
          <a:ln w="635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96128" y="3124045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794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39128" y="1600200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그냥 합으로 나누지 않을까?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39128" y="1965960"/>
            <a:ext cx="5111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점수에는 음수가 있다</a:t>
            </a:r>
            <a:endParaRPr lang="en-US" sz="17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음수를 그대로 나누면 “확률”이 음수가 된다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를 씌우면 무조건 양수가 된다</a:t>
            </a:r>
            <a:endParaRPr lang="en-US" sz="17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게다가 작은 차이를 크게 벌려 준다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다음 합으로 나눈다 → 합이 1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739128" y="4251960"/>
            <a:ext cx="5111496" cy="1325880"/>
          </a:xfrm>
          <a:prstGeom prst="roundRect">
            <a:avLst>
              <a:gd name="adj" fmla="val 3448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95160" y="44348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= max 를 “부드럽게(soft)” 만든 것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995160" y="480060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것만 1로 고르는 max 와 달리,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“얼마나 더 큰지”까지 남겨 준다.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9768" y="5943600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예측도 확률, 정답(one-hot)도 확률입니다. 드디어 “비교”할 수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손실함수와 다중 분류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 ② Cross Entropy — 정답 칸의 확률만 본다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" y="2112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(one-hot)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21408" y="2057400"/>
            <a:ext cx="777240" cy="457200"/>
          </a:xfrm>
          <a:prstGeom prst="rect">
            <a:avLst/>
          </a:prstGeom>
          <a:solidFill>
            <a:srgbClr val="3078B4"/>
          </a:solidFill>
          <a:ln w="158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121408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21408" y="1728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강아지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4952" y="205740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4952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4952" y="1728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고양이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68496" y="205740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68496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68496" y="1728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05740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728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개구리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(softmax)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21408" y="2697480"/>
            <a:ext cx="777240" cy="457200"/>
          </a:xfrm>
          <a:prstGeom prst="rect">
            <a:avLst/>
          </a:prstGeom>
          <a:solidFill>
            <a:srgbClr val="EAF2F8"/>
          </a:solidFill>
          <a:ln w="15875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21408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044952" y="269748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044952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68496" y="269748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968496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2697480"/>
            <a:ext cx="777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029968" y="2002536"/>
            <a:ext cx="960120" cy="1261872"/>
          </a:xfrm>
          <a:prstGeom prst="roundRect">
            <a:avLst>
              <a:gd name="adj" fmla="val 4762"/>
            </a:avLst>
          </a:prstGeom>
          <a:ln w="25400">
            <a:solidFill>
              <a:srgbClr val="3078B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218688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정답이 1인 칸 하나만 살아남는다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" y="3840480"/>
            <a:ext cx="5989320" cy="1234440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04088" y="402336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=  − log (정답 클래스의 확률)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04088" y="449884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예시  →  − log(0.70)  ≈  0.36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29768" y="525780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0을 곱한 칸은 사라지므로, 정답 칸의 확률 하나만 남습니다.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“정답에 얼마나 확률을 몰아줬는가”가 그대로 점수가 됩니다.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16002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무엇을 쓰나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84848" y="1993392"/>
            <a:ext cx="1722364" cy="384048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39712" y="1993392"/>
            <a:ext cx="1612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7212" y="1993392"/>
            <a:ext cx="1823679" cy="384048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562076" y="1993392"/>
            <a:ext cx="17139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30891" y="1993392"/>
            <a:ext cx="1519733" cy="384048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385755" y="1993392"/>
            <a:ext cx="14100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84848" y="2377440"/>
            <a:ext cx="172236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839712" y="2377440"/>
            <a:ext cx="1612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</a:t>
            </a:r>
            <a:endParaRPr lang="en-US" sz="1200" dirty="0"/>
          </a:p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(숫자 예측)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07212" y="2377440"/>
            <a:ext cx="182367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562076" y="2377440"/>
            <a:ext cx="17139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1개</a:t>
            </a:r>
            <a:endParaRPr lang="en-US" sz="1200" dirty="0"/>
          </a:p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없음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330891" y="2377440"/>
            <a:ext cx="1519733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385755" y="2377440"/>
            <a:ext cx="14100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784848" y="3246120"/>
            <a:ext cx="1722364" cy="868680"/>
          </a:xfrm>
          <a:prstGeom prst="rect">
            <a:avLst/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839712" y="3246120"/>
            <a:ext cx="1612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분류</a:t>
            </a:r>
            <a:endParaRPr lang="en-US" sz="1200" dirty="0"/>
          </a:p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(종류 예측)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07212" y="3246120"/>
            <a:ext cx="1823679" cy="868680"/>
          </a:xfrm>
          <a:prstGeom prst="rect">
            <a:avLst/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562076" y="3246120"/>
            <a:ext cx="17139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= 클래스 수</a:t>
            </a:r>
            <a:endParaRPr lang="en-US" sz="1200" dirty="0"/>
          </a:p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30891" y="3246120"/>
            <a:ext cx="1519733" cy="868680"/>
          </a:xfrm>
          <a:prstGeom prst="rect">
            <a:avLst/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0385755" y="3246120"/>
            <a:ext cx="14100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200" dirty="0"/>
          </a:p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MLP의 한계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MLP에 넣으려면 — 먼저 한 줄로 펴야 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2412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9844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57276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84708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2140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39572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67004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44368" y="19659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24128" y="22402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9844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7276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84708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12140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39572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670048" y="22402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944368" y="22402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2412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29844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57276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84708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12140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95728" y="251460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670048" y="251460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944368" y="25146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2412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29844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57276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84708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121408" y="278892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395728" y="278892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67004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944368" y="27889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2412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29844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7276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847088" y="306324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121408" y="306324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39572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67004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944368" y="306324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2412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29844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572768" y="333756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847088" y="333756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12140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39572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67004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944368" y="333756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2412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29844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572768" y="36118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847088" y="3611880"/>
            <a:ext cx="274320" cy="274320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212140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239572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67004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944368" y="361188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2412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29844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57276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84708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212140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39572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267004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2944368" y="38862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58368" y="4361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손글씨 이미지 (28 × 28)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538728" y="3063240"/>
            <a:ext cx="685800" cy="91"/>
          </a:xfrm>
          <a:prstGeom prst="line">
            <a:avLst/>
          </a:prstGeom>
          <a:noFill/>
          <a:ln w="25400">
            <a:solidFill>
              <a:srgbClr val="3078B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3401568" y="2679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펴기 (flatten)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453128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4690872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4928616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5166360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5404104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5641848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879592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6117336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355080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6592824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830568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7068312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7306056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543800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7781544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8019288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8257032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8494776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8732520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8970264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9208008" y="294436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9445752" y="294436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9756648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4453128" y="3447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늘어선 784개의 숫자   ( 28 × 28 = 784 )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429768" y="4023360"/>
            <a:ext cx="5550408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704088" y="4224528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펴야만 할까?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704088" y="4553712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퍼셉트론은 x₁, x₂, … , xₙ 을 받는다</a:t>
            </a:r>
            <a:endParaRPr lang="en-US" sz="1700" dirty="0"/>
          </a:p>
        </p:txBody>
      </p:sp>
      <p:sp>
        <p:nvSpPr>
          <p:cNvPr id="99" name="Text 97"/>
          <p:cNvSpPr/>
          <p:nvPr/>
        </p:nvSpPr>
        <p:spPr>
          <a:xfrm>
            <a:off x="704088" y="4937760"/>
            <a:ext cx="5001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입력이 “한 줄”이라는 뜻이다.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격자를 그대로 받을 방법이 MLP에는 없다.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6300216" y="4023360"/>
            <a:ext cx="5550408" cy="1737360"/>
          </a:xfrm>
          <a:prstGeom prst="roundRect">
            <a:avLst>
              <a:gd name="adj" fmla="val 2632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6574536" y="4224528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잘 되나?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6574536" y="4553712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손글씨 정도는 꽤 잘 맞힌다</a:t>
            </a:r>
            <a:endParaRPr lang="en-US" sz="1700" dirty="0"/>
          </a:p>
        </p:txBody>
      </p:sp>
      <p:sp>
        <p:nvSpPr>
          <p:cNvPr id="103" name="Text 101"/>
          <p:cNvSpPr/>
          <p:nvPr/>
        </p:nvSpPr>
        <p:spPr>
          <a:xfrm>
            <a:off x="6574536" y="4937760"/>
            <a:ext cx="5001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784개 입력 → 은닉층 → 출력 10개 + Softmax.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구조 그대로 MNIST를 풀 수 있다.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429768" y="5943600"/>
            <a:ext cx="11420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문제는 그 다음입니다 — 사진이 조금만 커지면 두 곳에서 무너집니다.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MLP의 한계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① 연산량이 감당이 안 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3200400" cy="457200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이미지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50208" y="1600200"/>
            <a:ext cx="2011680" cy="457200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23360" y="1600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개수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61888" y="1600200"/>
            <a:ext cx="2194560" cy="457200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35040" y="1600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은닉층 퍼셉트론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6448" y="1600200"/>
            <a:ext cx="2377440" cy="457200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0" y="16002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층 가중치 개수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05740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05740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손글씨 (흑백 28 × 28)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50208" y="205740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23360" y="205740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61888" y="205740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35040" y="205740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6448" y="205740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0" y="205740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784,000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" y="2715768"/>
            <a:ext cx="3200400" cy="658368"/>
          </a:xfrm>
          <a:prstGeom prst="rect">
            <a:avLst/>
          </a:prstGeom>
          <a:solidFill>
            <a:srgbClr val="FBF1EE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271576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(컬러 1000 × 1000)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50208" y="2715768"/>
            <a:ext cx="2011680" cy="658368"/>
          </a:xfrm>
          <a:prstGeom prst="rect">
            <a:avLst/>
          </a:prstGeom>
          <a:solidFill>
            <a:srgbClr val="FBF1EE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023360" y="27157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61888" y="2715768"/>
            <a:ext cx="2194560" cy="658368"/>
          </a:xfrm>
          <a:prstGeom prst="rect">
            <a:avLst/>
          </a:prstGeom>
          <a:solidFill>
            <a:srgbClr val="FBF1EE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35040" y="2715768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85"/>
              </a:lnSpc>
              <a:buNone/>
            </a:pPr>
            <a:r>
              <a:rPr lang="en-US" sz="1300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6448" y="2715768"/>
            <a:ext cx="2377440" cy="658368"/>
          </a:xfrm>
          <a:prstGeom prst="rect">
            <a:avLst/>
          </a:prstGeom>
          <a:solidFill>
            <a:srgbClr val="FBF1EE"/>
          </a:solidFill>
          <a:ln w="12700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0" y="271576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" y="34747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층 하나만 세어도 이렇습니다. 층을 더 쌓으면 계속 늘어납니다.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" y="3977640"/>
            <a:ext cx="555040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04088" y="4178808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많아질까?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" y="4507992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입력이 모든 퍼셉트론에 연결되기 때문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4088" y="4892040"/>
            <a:ext cx="5001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Fully Connected (완전 연결)이다.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개수 = 입력 개수 × 퍼셉트론 개수.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00216" y="3977640"/>
            <a:ext cx="5550408" cy="1783080"/>
          </a:xfrm>
          <a:prstGeom prst="roundRect">
            <a:avLst>
              <a:gd name="adj" fmla="val 2564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74536" y="4178808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정말 다 연결해야 하나?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74536" y="4507992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왼쪽 위 픽셀과 오른쪽 아래 픽셀이</a:t>
            </a:r>
            <a:endParaRPr lang="en-US" sz="1700" dirty="0"/>
          </a:p>
          <a:p>
            <a:pPr marL="0" indent="0" algn="l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관계가 있을까?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74536" y="5239512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연결은 쓸모가 없는데도 전부 계산하고 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MLP의 한계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② 그림의 “모양”을 버리고 시작한다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" y="14630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펴는 순간 “붙어 있었다”는 사실이 사라진다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87552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25296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463040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700784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938528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176272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14016" y="193852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49808" y="217627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225296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463040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700784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938528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176272" y="217627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414016" y="217627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49808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87552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225296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463040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700784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938528" y="2414016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176272" y="2414016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414016" y="241401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9808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87552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225296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463040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00784" y="2651760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938528" y="2651760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176272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414016" y="26517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49808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87552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225296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463040" y="2889504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700784" y="2889504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938528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176272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414016" y="28895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49808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87552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225296" y="312724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463040" y="3127248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700784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938528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176272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414016" y="3127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49808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25296" y="336499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463040" y="3364992"/>
            <a:ext cx="237744" cy="23774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700784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938528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76272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414016" y="336499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49808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87552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25296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463040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700784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938528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2176272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2414016" y="360273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938528" y="2176272"/>
            <a:ext cx="237744" cy="475488"/>
          </a:xfrm>
          <a:prstGeom prst="rect">
            <a:avLst/>
          </a:prstGeom>
          <a:ln w="28575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2880360" y="2188159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위아래로 딱 붙어 있는</a:t>
            </a:r>
            <a:endParaRPr lang="en-US" sz="12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픽셀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941832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133856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325880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517904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709928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901952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2093976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2286000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2478024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2670048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2862072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3054096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3246120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3438144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3630168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3822192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4014216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4206240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4398264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4590288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4782312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4974336" y="4343400"/>
            <a:ext cx="192024" cy="192024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5166360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5358384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5550408" y="4343400"/>
            <a:ext cx="192024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3246120" y="4343400"/>
            <a:ext cx="192024" cy="192024"/>
          </a:xfrm>
          <a:prstGeom prst="rect">
            <a:avLst/>
          </a:prstGeom>
          <a:ln w="28575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4782312" y="4343400"/>
            <a:ext cx="192024" cy="192024"/>
          </a:xfrm>
          <a:prstGeom prst="rect">
            <a:avLst/>
          </a:prstGeom>
          <a:ln w="28575">
            <a:solidFill>
              <a:srgbClr val="B35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3342132" y="4197096"/>
            <a:ext cx="1536192" cy="91"/>
          </a:xfrm>
          <a:prstGeom prst="line">
            <a:avLst/>
          </a:prstGeom>
          <a:noFill/>
          <a:ln w="19050">
            <a:solidFill>
              <a:srgbClr val="B35F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3860597" y="39410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8칸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749808" y="4718304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붙어 있던 두 픽셀이 8칸이나 떨어졌다.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28 × 28 이미지에서는 28칸이나 벌어진다.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6281928" y="1463040"/>
            <a:ext cx="5568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픽셀 순서를 섞어도 MLP는 눈치채지 못한다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7159752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7360920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7562088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7763256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7964424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8165592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8366760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8567928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159752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7360920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7562088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7763256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964424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165592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8366760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567928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7159752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7360920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7562088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7763256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7964424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8165592" y="2340864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8366760" y="2340864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8567928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7159752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7360920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7562088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7763256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7964424" y="2542032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8165592" y="2542032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8366760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8567928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7159752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7360920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7562088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7763256" y="2743200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7964424" y="2743200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8165592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8366760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8567928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7159752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7360920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7562088" y="294436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7763256" y="294436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7964424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8165592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8366760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8567928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>
            <a:off x="7159752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>
            <a:off x="7360920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7562088" y="314553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7763256" y="314553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7964424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8165592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>
            <a:off x="8366760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8567928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7159752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>
            <a:off x="7360920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>
            <a:off x="7562088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7763256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7964424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8165592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8366760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8567928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>
            <a:off x="9363456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9564624" y="193852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9765792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9966960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10168128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>
            <a:off x="10369296" y="19385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10570464" y="193852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10771632" y="193852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9363456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9564624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9765792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9966960" y="213969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10168128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10369296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10570464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10771632" y="21396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9363456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9564624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9765792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9966960" y="2340864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10168128" y="2340864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10369296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10570464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10771632" y="23408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9363456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9564624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9765792" y="2542032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>
            <a:off x="9966960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 196"/>
          <p:cNvSpPr/>
          <p:nvPr/>
        </p:nvSpPr>
        <p:spPr>
          <a:xfrm>
            <a:off x="10168128" y="2542032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 197"/>
          <p:cNvSpPr/>
          <p:nvPr/>
        </p:nvSpPr>
        <p:spPr>
          <a:xfrm>
            <a:off x="10369296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>
            <a:off x="10570464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10771632" y="25420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>
            <a:off x="9363456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>
            <a:off x="9564624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Shape 202"/>
          <p:cNvSpPr/>
          <p:nvPr/>
        </p:nvSpPr>
        <p:spPr>
          <a:xfrm>
            <a:off x="9765792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Shape 203"/>
          <p:cNvSpPr/>
          <p:nvPr/>
        </p:nvSpPr>
        <p:spPr>
          <a:xfrm>
            <a:off x="9966960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 204"/>
          <p:cNvSpPr/>
          <p:nvPr/>
        </p:nvSpPr>
        <p:spPr>
          <a:xfrm>
            <a:off x="10168128" y="2743200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10369296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>
            <a:off x="10570464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 207"/>
          <p:cNvSpPr/>
          <p:nvPr/>
        </p:nvSpPr>
        <p:spPr>
          <a:xfrm>
            <a:off x="10771632" y="274320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 208"/>
          <p:cNvSpPr/>
          <p:nvPr/>
        </p:nvSpPr>
        <p:spPr>
          <a:xfrm>
            <a:off x="9363456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Shape 209"/>
          <p:cNvSpPr/>
          <p:nvPr/>
        </p:nvSpPr>
        <p:spPr>
          <a:xfrm>
            <a:off x="9564624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Shape 210"/>
          <p:cNvSpPr/>
          <p:nvPr/>
        </p:nvSpPr>
        <p:spPr>
          <a:xfrm>
            <a:off x="9765792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 211"/>
          <p:cNvSpPr/>
          <p:nvPr/>
        </p:nvSpPr>
        <p:spPr>
          <a:xfrm>
            <a:off x="9966960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 212"/>
          <p:cNvSpPr/>
          <p:nvPr/>
        </p:nvSpPr>
        <p:spPr>
          <a:xfrm>
            <a:off x="10168128" y="294436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 213"/>
          <p:cNvSpPr/>
          <p:nvPr/>
        </p:nvSpPr>
        <p:spPr>
          <a:xfrm>
            <a:off x="10369296" y="2944368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>
            <a:off x="10570464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>
            <a:off x="10771632" y="294436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9363456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>
            <a:off x="9564624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>
            <a:off x="9765792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>
            <a:off x="9966960" y="314553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10168128" y="314553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10369296" y="3145536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10570464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>
            <a:off x="10771632" y="314553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>
            <a:off x="9363456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>
            <a:off x="9564624" y="3346704"/>
            <a:ext cx="201168" cy="201168"/>
          </a:xfrm>
          <a:prstGeom prst="rect">
            <a:avLst/>
          </a:prstGeom>
          <a:solidFill>
            <a:srgbClr val="002233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9765792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9966960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168128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>
            <a:off x="10369296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>
            <a:off x="10570464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>
            <a:off x="10771632" y="334670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Text 232"/>
          <p:cNvSpPr/>
          <p:nvPr/>
        </p:nvSpPr>
        <p:spPr>
          <a:xfrm>
            <a:off x="8769096" y="2560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236" name="Text 234"/>
          <p:cNvSpPr/>
          <p:nvPr/>
        </p:nvSpPr>
        <p:spPr>
          <a:xfrm>
            <a:off x="8906256" y="36758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픽셀을 통째로 섞은 것</a:t>
            </a:r>
            <a:endParaRPr lang="en-US" sz="1100" dirty="0"/>
          </a:p>
        </p:txBody>
      </p:sp>
      <p:sp>
        <p:nvSpPr>
          <p:cNvPr id="237" name="Text 235"/>
          <p:cNvSpPr/>
          <p:nvPr/>
        </p:nvSpPr>
        <p:spPr>
          <a:xfrm>
            <a:off x="6281928" y="3794760"/>
            <a:ext cx="5568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오른쪽을 전혀 못 알아본다.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MLP는 두 문제의 난이도가 똑같다.</a:t>
            </a:r>
            <a:endParaRPr lang="en-US" sz="1400" dirty="0"/>
          </a:p>
        </p:txBody>
      </p:sp>
      <p:sp>
        <p:nvSpPr>
          <p:cNvPr id="238" name="Text 236"/>
          <p:cNvSpPr/>
          <p:nvPr/>
        </p:nvSpPr>
        <p:spPr>
          <a:xfrm>
            <a:off x="6281928" y="4526280"/>
            <a:ext cx="5568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“옆에 붙어 있다”는 정보를 처음부터 쓰지 않기 때문이다.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게다가 숫자가 몇 픽셀만 옆으로 움직여도 완전히 다른 입력이 된다.</a:t>
            </a:r>
            <a:endParaRPr lang="en-US" sz="1300" dirty="0"/>
          </a:p>
        </p:txBody>
      </p:sp>
      <p:sp>
        <p:nvSpPr>
          <p:cNvPr id="239" name="Shape 237"/>
          <p:cNvSpPr/>
          <p:nvPr/>
        </p:nvSpPr>
        <p:spPr>
          <a:xfrm>
            <a:off x="429768" y="5394960"/>
            <a:ext cx="11420856" cy="822960"/>
          </a:xfrm>
          <a:prstGeom prst="roundRect">
            <a:avLst>
              <a:gd name="adj" fmla="val 5556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0" name="Text 238"/>
          <p:cNvSpPr/>
          <p:nvPr/>
        </p:nvSpPr>
        <p:spPr>
          <a:xfrm>
            <a:off x="704088" y="539496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것 — 이미지를 펴지 않고, 옆에 붙어 있는 픽셀끼리 묶어서 보는 방법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내가 정하는가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자동이고, 무엇이 내 결정인가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508760"/>
            <a:ext cx="5527548" cy="3703320"/>
          </a:xfrm>
          <a:prstGeom prst="roundRect">
            <a:avLst>
              <a:gd name="adj" fmla="val 1235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4887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자동으로 정한다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4887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 ·  학습되는 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596896"/>
            <a:ext cx="48874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가중치 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편향 b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(다음 시간) CNN의 </a:t>
            </a:r>
            <a:r>
              <a:rPr lang="en-US" sz="1700" b="1" dirty="0" err="1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</a:t>
            </a: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4005072"/>
            <a:ext cx="4887468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4133088"/>
            <a:ext cx="48874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개수는 수만 ~ 수억 개.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손으로 정하는 건 애초에 불가능하고,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경사하강법에 맡긴다.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3076" y="1508760"/>
            <a:ext cx="5527548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43116" y="1737360"/>
            <a:ext cx="4887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정해야 한다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43116" y="2139696"/>
            <a:ext cx="4887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kern="0" spc="80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&amp; 설계  ·  학습되지 않는 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43116" y="2596896"/>
            <a:ext cx="48874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구조 </a:t>
            </a: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(직선? 곡선? MLP? CNN?)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– layer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개수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개수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b="1" dirty="0">
              <a:solidFill>
                <a:srgbClr val="0022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– kernel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pooling </a:t>
            </a: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종류</a:t>
            </a:r>
            <a:r>
              <a:rPr lang="en-US" altLang="ko-KR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함수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600" b="1" dirty="0" err="1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내가 정하는가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처음 모델을 만들 때, 무엇을 건드리면 되나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554480"/>
            <a:ext cx="3593592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" y="1792224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이미 정해 준다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1488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6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고민할 필요 없음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560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개수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907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→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" y="3547872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04088" y="3703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" y="4050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→ Cross Entropy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93592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1792224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B35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관례를 따르면 된다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6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처음에는 그대로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560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은닉층 활성화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907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로 시작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3547872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17720" y="3703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 err="1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출력층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7720" y="4050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→ </a:t>
            </a: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>
              <a:solidFill>
                <a:srgbClr val="5E7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</a:t>
            </a: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없음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57032" y="1554480"/>
            <a:ext cx="3593592" cy="3383280"/>
          </a:xfrm>
          <a:prstGeom prst="roundRect">
            <a:avLst>
              <a:gd name="adj" fmla="val 1351"/>
            </a:avLst>
          </a:prstGeom>
          <a:solidFill>
            <a:srgbClr val="F1F5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31352" y="1792224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실험해야 한다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31352" y="21488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kern="0" spc="6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여기가 진짜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31352" y="2560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 수 · 퍼셉트론 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31352" y="2907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작게 시작해서 부족하면 늘린다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31352" y="3547872"/>
            <a:ext cx="3044952" cy="91"/>
          </a:xfrm>
          <a:prstGeom prst="line">
            <a:avLst/>
          </a:prstGeom>
          <a:noFill/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531352" y="3703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31352" y="40507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부터 10배씩 바꿔 본다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" y="5166360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처음에는 왼쪽 두 칸을 그대로 두고, 오른쪽 칸만 바꿔 보세요. 그것만으로 충분합니다.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01168"/>
            <a:ext cx="11420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내가 정하는가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29768" y="502920"/>
            <a:ext cx="11420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5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9768" y="14630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9576" y="16824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의 모양은 내가 정한다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9576" y="21396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곡선이면 f 도 곡선이어야 한다. 데이터는 시키지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14630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79108" y="17190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791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2884" y="16824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함수가 없으면 깊이가 무의미하다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72884" y="21396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직선을 몇 번 겹쳐도 직선. 25x₁ + 19x₂ 로 되돌아간다.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28346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30906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9576" y="30540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경사하강법은 전수조사의 대안이다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9576" y="35112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지도를 몰라도 발밑 기울기만으로 내려갈 수 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3076" y="28346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79108" y="30906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7910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72884" y="30540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의 제곱에는 세 가지 이유가 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72884" y="35112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부호 제거 · 큰 오차에 큰 벌점 · 어디서나 미분 가능.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" y="42062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85800" y="44622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9576" y="44256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출력이 여러 개인 이유는 “순서”다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9576" y="48828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번호를 매기면 없는 순서와 거리가 생긴다. 그래서 클래스마다 하나씩.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23076" y="4206240"/>
            <a:ext cx="5527548" cy="1207008"/>
          </a:xfrm>
          <a:prstGeom prst="roundRect">
            <a:avLst>
              <a:gd name="adj" fmla="val 3788"/>
            </a:avLst>
          </a:prstGeom>
          <a:solidFill>
            <a:srgbClr val="F1F5F8"/>
          </a:solidFill>
          <a:ln w="12700">
            <a:solidFill>
              <a:srgbClr val="D6E0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79108" y="4462272"/>
            <a:ext cx="365760" cy="365760"/>
          </a:xfrm>
          <a:prstGeom prst="ellipse">
            <a:avLst/>
          </a:prstGeom>
          <a:solidFill>
            <a:srgbClr val="3078B4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79108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72884" y="44256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Entropy 는 확신한 오답을 벌한다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2884" y="4882896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 p 는 p 가 0에 가까울 때 폭발한다.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" y="5623560"/>
            <a:ext cx="11420856" cy="96012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3078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49808" y="5760720"/>
            <a:ext cx="10780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00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MLP 는 이미지 앞에서 두 번 무너진다 — 연산량, 그리고 형상.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9808" y="6153912"/>
            <a:ext cx="10780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307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— 이 두 가지를 푸는 구조 : Convolutional Neural Network (CNN)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2235</Words>
  <Application>Microsoft Office PowerPoint</Application>
  <PresentationFormat>와이드스크린</PresentationFormat>
  <Paragraphs>472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 심화 - 손실함수와 다중 분류</dc:title>
  <dc:subject>PptxGenJS Presentation</dc:subject>
  <dc:creator>김우주</dc:creator>
  <cp:lastModifiedBy>김우주(컴퓨터공학과)</cp:lastModifiedBy>
  <cp:revision>8</cp:revision>
  <dcterms:created xsi:type="dcterms:W3CDTF">2026-07-28T09:13:58Z</dcterms:created>
  <dcterms:modified xsi:type="dcterms:W3CDTF">2026-07-28T09:34:14Z</dcterms:modified>
</cp:coreProperties>
</file>